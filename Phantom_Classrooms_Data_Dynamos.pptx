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flag likely energy waste, rather than blindly switching equipment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is between a room's scheduled use and its actual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Staff review the recommendation; the system does not assume every empty-looking room is safe to switch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signals disagree, the system asks for a check instead of making a confident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prioritizes which room staff should check and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example scenario; a real pilot needs reliable energy data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can replace these example numbers with measured readings during a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goal is to give campus staff clear evidence and a safe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852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B314A"/>
                </a:solidFill>
                <a:latin typeface="Aptos"/>
              </a:rPr>
              <a:t>PHANTOM CLASSROOMS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89888"/>
            <a:ext cx="5303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47E89"/>
                </a:solidFill>
                <a:latin typeface="Aptos"/>
              </a:rPr>
              <a:t>Camera-assisted energy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4892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303A44"/>
                </a:solidFill>
                <a:latin typeface="Aptos"/>
              </a:rPr>
              <a:t>Find empty rooms where lights or AC may still be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48463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69747E"/>
                </a:solidFill>
                <a:latin typeface="Aptos"/>
              </a:rPr>
              <a:t>A practical campus tool that helps staff spot waste and decide what to do next.</a:t>
            </a:r>
          </a:p>
        </p:txBody>
      </p:sp>
      <p:pic>
        <p:nvPicPr>
          <p:cNvPr id="6" name="Picture 5" descr="phantom_emp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594360"/>
            <a:ext cx="5440680" cy="2788920"/>
          </a:xfrm>
          <a:prstGeom prst="rect">
            <a:avLst/>
          </a:prstGeom>
        </p:spPr>
      </p:pic>
      <p:pic>
        <p:nvPicPr>
          <p:cNvPr id="7" name="Picture 6" descr="phantom_cla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520440"/>
            <a:ext cx="2651760" cy="1645920"/>
          </a:xfrm>
          <a:prstGeom prst="rect">
            <a:avLst/>
          </a:prstGeom>
        </p:spPr>
      </p:pic>
      <p:pic>
        <p:nvPicPr>
          <p:cNvPr id="8" name="Picture 7" descr="phantom_camer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520440"/>
            <a:ext cx="265176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66928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69747E"/>
                </a:solidFill>
                <a:latin typeface="Aptos"/>
              </a:rPr>
              <a:t>SYNESIS 2026  |  Team: DATA DYNAMOS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669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9747E"/>
                </a:solidFill>
                <a:latin typeface="Aptos"/>
              </a:rPr>
              <a:t>DATA DYNAMOS  •  PHANTOM CLASSROOMS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B314A"/>
                </a:solidFill>
                <a:latin typeface="Aptos"/>
              </a:rPr>
              <a:t>The problem: empty rooms can still use power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31520" cy="50292"/>
          </a:xfrm>
          <a:prstGeom prst="rect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9747E"/>
                </a:solidFill>
                <a:latin typeface="Aptos"/>
              </a:rPr>
              <a:t>Timetables show planned use—not what is happening in the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69747E"/>
                </a:solidFill>
                <a:latin typeface="Aptos"/>
              </a:rPr>
              <a:t>02</a:t>
            </a:r>
          </a:p>
        </p:txBody>
      </p:sp>
      <p:pic>
        <p:nvPicPr>
          <p:cNvPr id="6" name="Picture 5" descr="phantom_emp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074920" cy="3429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172200" y="193852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828800"/>
            <a:ext cx="482803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 i="0">
                <a:solidFill>
                  <a:srgbClr val="303A44"/>
                </a:solidFill>
                <a:latin typeface="Aptos"/>
              </a:rPr>
              <a:t>A class may finish early or be cancelled.</a:t>
            </a:r>
          </a:p>
        </p:txBody>
      </p:sp>
      <p:sp>
        <p:nvSpPr>
          <p:cNvPr id="9" name="Oval 8"/>
          <p:cNvSpPr/>
          <p:nvPr/>
        </p:nvSpPr>
        <p:spPr>
          <a:xfrm>
            <a:off x="6172200" y="280720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697480"/>
            <a:ext cx="482803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 i="0">
                <a:solidFill>
                  <a:srgbClr val="303A44"/>
                </a:solidFill>
                <a:latin typeface="Aptos"/>
              </a:rPr>
              <a:t>Lights, projectors or air-conditioning may stay on.</a:t>
            </a:r>
          </a:p>
        </p:txBody>
      </p:sp>
      <p:sp>
        <p:nvSpPr>
          <p:cNvPr id="11" name="Oval 10"/>
          <p:cNvSpPr/>
          <p:nvPr/>
        </p:nvSpPr>
        <p:spPr>
          <a:xfrm>
            <a:off x="6172200" y="376732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482803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 i="0">
                <a:solidFill>
                  <a:srgbClr val="303A44"/>
                </a:solidFill>
                <a:latin typeface="Aptos"/>
              </a:rPr>
              <a:t>Staff cannot manually check every room all day.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468172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4572000"/>
            <a:ext cx="4828032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 i="0">
                <a:solidFill>
                  <a:srgbClr val="303A44"/>
                </a:solidFill>
                <a:latin typeface="Aptos"/>
              </a:rPr>
              <a:t>Energy bills show usage, but not always where waste happened.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37960"/>
            <a:ext cx="5669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9747E"/>
                </a:solidFill>
                <a:latin typeface="Aptos"/>
              </a:rPr>
              <a:t>DATA DYNAMOS  •  PHANTOM CLASSROOMS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B314A"/>
                </a:solidFill>
                <a:latin typeface="Aptos"/>
              </a:rPr>
              <a:t>Our solution in one sentence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31520" cy="50292"/>
          </a:xfrm>
          <a:prstGeom prst="rect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9747E"/>
                </a:solidFill>
                <a:latin typeface="Aptos"/>
              </a:rPr>
              <a:t>Use camera-based occupancy estimates and room energy status to flag possible waste.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69747E"/>
                </a:solidFill>
                <a:latin typeface="Aptos"/>
              </a:rPr>
              <a:t>03</a:t>
            </a:r>
          </a:p>
        </p:txBody>
      </p:sp>
      <p:pic>
        <p:nvPicPr>
          <p:cNvPr id="6" name="Picture 5" descr="phantom_c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342900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977639"/>
            <a:ext cx="3429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1B314A"/>
                </a:solidFill>
                <a:latin typeface="Aptos"/>
              </a:rPr>
              <a:t>1.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3154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 i="0">
                <a:solidFill>
                  <a:srgbClr val="303A44"/>
                </a:solidFill>
                <a:latin typeface="Aptos"/>
              </a:rPr>
              <a:t>Estimate whether the room is occupied.</a:t>
            </a:r>
          </a:p>
        </p:txBody>
      </p:sp>
      <p:pic>
        <p:nvPicPr>
          <p:cNvPr id="9" name="Picture 8" descr="phantom_came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28800"/>
            <a:ext cx="342900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3977639"/>
            <a:ext cx="3429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1B314A"/>
                </a:solidFill>
                <a:latin typeface="Aptos"/>
              </a:rPr>
              <a:t>2. 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434840"/>
            <a:ext cx="3154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 i="0">
                <a:solidFill>
                  <a:srgbClr val="303A44"/>
                </a:solidFill>
                <a:latin typeface="Aptos"/>
              </a:rPr>
              <a:t>Check timetable and equipment status.</a:t>
            </a:r>
          </a:p>
        </p:txBody>
      </p:sp>
      <p:pic>
        <p:nvPicPr>
          <p:cNvPr id="12" name="Picture 11" descr="phantom_energ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828800"/>
            <a:ext cx="3429000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760" y="3977639"/>
            <a:ext cx="3429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1B314A"/>
                </a:solidFill>
                <a:latin typeface="Aptos"/>
              </a:rPr>
              <a:t>3.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434840"/>
            <a:ext cx="3154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 i="0">
                <a:solidFill>
                  <a:srgbClr val="303A44"/>
                </a:solidFill>
                <a:latin typeface="Aptos"/>
              </a:rPr>
              <a:t>Show rooms that may be wasting energy.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37960"/>
            <a:ext cx="5669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9747E"/>
                </a:solidFill>
                <a:latin typeface="Aptos"/>
              </a:rPr>
              <a:t>DATA DYNAMOS  •  PHANTOM CLASSROOMS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B314A"/>
                </a:solidFill>
                <a:latin typeface="Aptos"/>
              </a:rPr>
              <a:t>How the system decides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31520" cy="50292"/>
          </a:xfrm>
          <a:prstGeom prst="rect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9747E"/>
                </a:solidFill>
                <a:latin typeface="Aptos"/>
              </a:rPr>
              <a:t>It checks more than one signal before raising an alert.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69747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201168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B314A"/>
                </a:solidFill>
                <a:latin typeface="Aptos"/>
              </a:rPr>
              <a:t>Camera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926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 i="0">
                <a:solidFill>
                  <a:srgbClr val="303A44"/>
                </a:solidFill>
                <a:latin typeface="Aptos"/>
              </a:rPr>
              <a:t>Does the room appear occupied?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69747E"/>
                </a:solidFill>
                <a:latin typeface="Aptos"/>
              </a:rPr>
              <a:t>People-count / occupancy estimate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383280" cy="201168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0312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B314A"/>
                </a:solidFill>
                <a:latin typeface="Aptos"/>
              </a:rPr>
              <a:t>Timetable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51760"/>
            <a:ext cx="2926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 i="0">
                <a:solidFill>
                  <a:srgbClr val="303A44"/>
                </a:solidFill>
                <a:latin typeface="Aptos"/>
              </a:rPr>
              <a:t>Should a class be happening now?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3756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69747E"/>
                </a:solidFill>
                <a:latin typeface="Aptos"/>
              </a:rPr>
              <a:t>Scheduled start and end times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74519"/>
            <a:ext cx="3383280" cy="201168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B314A"/>
                </a:solidFill>
                <a:latin typeface="Aptos"/>
              </a:rPr>
              <a:t>Equipment / 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51760"/>
            <a:ext cx="2926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 i="0">
                <a:solidFill>
                  <a:srgbClr val="303A44"/>
                </a:solidFill>
                <a:latin typeface="Aptos"/>
              </a:rPr>
              <a:t>Are lights or AC still drawing power?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3756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69747E"/>
                </a:solidFill>
                <a:latin typeface="Aptos"/>
              </a:rPr>
              <a:t>On/off status or energy readings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7E89"/>
                </a:solidFill>
                <a:latin typeface="Aptos"/>
              </a:rPr>
              <a:t>Example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1B314A"/>
                </a:solidFill>
                <a:latin typeface="Aptos"/>
              </a:rPr>
              <a:t>“Room 101 may be empty, but the lights appear to be on. Please verify.”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537960"/>
            <a:ext cx="5669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9747E"/>
                </a:solidFill>
                <a:latin typeface="Aptos"/>
              </a:rPr>
              <a:t>DATA DYNAMOS  •  PHANTOM CLASSROOMS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B314A"/>
                </a:solidFill>
                <a:latin typeface="Aptos"/>
              </a:rPr>
              <a:t>What the staff dashboard shows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31520" cy="50292"/>
          </a:xfrm>
          <a:prstGeom prst="rect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9747E"/>
                </a:solidFill>
                <a:latin typeface="Aptos"/>
              </a:rPr>
              <a:t>A short list of rooms to check first—without complicated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69747E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phantom_ener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457200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0" y="1719072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1B314A"/>
                </a:solidFill>
                <a:latin typeface="Aptos"/>
              </a:rPr>
              <a:t>Example room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2286000"/>
            <a:ext cx="5074920" cy="73152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3774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B314A"/>
                </a:solidFill>
                <a:latin typeface="Aptos"/>
              </a:rPr>
              <a:t>Room 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377440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A7B30"/>
                </a:solidFill>
                <a:latin typeface="Aptos"/>
              </a:rPr>
              <a:t>Possible 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670048"/>
            <a:ext cx="4572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9747E"/>
                </a:solidFill>
                <a:latin typeface="Aptos"/>
              </a:rPr>
              <a:t>Empty estimate + lights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3200400"/>
            <a:ext cx="5074920" cy="73152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32918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B314A"/>
                </a:solidFill>
                <a:latin typeface="Aptos"/>
              </a:rPr>
              <a:t>Lab 204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291840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47E89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584448"/>
            <a:ext cx="4572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9747E"/>
                </a:solidFill>
                <a:latin typeface="Aptos"/>
              </a:rPr>
              <a:t>Low-confidence occupancy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4114800"/>
            <a:ext cx="5074920" cy="73152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42062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B314A"/>
                </a:solidFill>
                <a:latin typeface="Aptos"/>
              </a:rPr>
              <a:t>Seminar Hall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206240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47E89"/>
                </a:solidFill>
                <a:latin typeface="Aptos"/>
              </a:rPr>
              <a:t>In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498848"/>
            <a:ext cx="4572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9747E"/>
                </a:solidFill>
                <a:latin typeface="Aptos"/>
              </a:rPr>
              <a:t>People detected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166360"/>
            <a:ext cx="4937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69747E"/>
                </a:solidFill>
                <a:latin typeface="Aptos"/>
              </a:rPr>
              <a:t>Illustrative interface—not live campus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537960"/>
            <a:ext cx="5669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9747E"/>
                </a:solidFill>
                <a:latin typeface="Aptos"/>
              </a:rPr>
              <a:t>DATA DYNAMOS  •  PHANTOM CLASSROOMS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B314A"/>
                </a:solidFill>
                <a:latin typeface="Aptos"/>
              </a:rPr>
              <a:t>Example: spotting waste in Room 101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31520" cy="50292"/>
          </a:xfrm>
          <a:prstGeom prst="rect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9747E"/>
                </a:solidFill>
                <a:latin typeface="Aptos"/>
              </a:rPr>
              <a:t>One clear example makes the idea easy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69747E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phantom_emp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93776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0" y="178308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1B314A"/>
                </a:solidFill>
                <a:latin typeface="Aptos"/>
              </a:rPr>
              <a:t>What the system sees</a:t>
            </a:r>
          </a:p>
        </p:txBody>
      </p:sp>
      <p:sp>
        <p:nvSpPr>
          <p:cNvPr id="8" name="Oval 7"/>
          <p:cNvSpPr/>
          <p:nvPr/>
        </p:nvSpPr>
        <p:spPr>
          <a:xfrm>
            <a:off x="6080760" y="244144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2331720"/>
            <a:ext cx="46451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303A44"/>
                </a:solidFill>
                <a:latin typeface="Aptos"/>
              </a:rPr>
              <a:t>The timetable says the class has ended.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308152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2971800"/>
            <a:ext cx="46451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303A44"/>
                </a:solidFill>
                <a:latin typeface="Aptos"/>
              </a:rPr>
              <a:t>The camera estimate finds no occupants.</a:t>
            </a:r>
          </a:p>
        </p:txBody>
      </p:sp>
      <p:sp>
        <p:nvSpPr>
          <p:cNvPr id="12" name="Oval 11"/>
          <p:cNvSpPr/>
          <p:nvPr/>
        </p:nvSpPr>
        <p:spPr>
          <a:xfrm>
            <a:off x="6080760" y="372160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3611880"/>
            <a:ext cx="46451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303A44"/>
                </a:solidFill>
                <a:latin typeface="Aptos"/>
              </a:rPr>
              <a:t>The energy reading suggests the lights are still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4526280"/>
            <a:ext cx="4983480" cy="685800"/>
          </a:xfrm>
          <a:prstGeom prst="roundRect">
            <a:avLst/>
          </a:prstGeom>
          <a:solidFill>
            <a:srgbClr val="E5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645152"/>
            <a:ext cx="4617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47E89"/>
                </a:solidFill>
                <a:latin typeface="Aptos"/>
              </a:rPr>
              <a:t>Recommendation: ask staff to verify, then switch off if safe.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37960"/>
            <a:ext cx="5669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9747E"/>
                </a:solidFill>
                <a:latin typeface="Aptos"/>
              </a:rPr>
              <a:t>DATA DYNAMOS  •  PHANTOM CLASSROOMS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B314A"/>
                </a:solidFill>
                <a:latin typeface="Aptos"/>
              </a:rPr>
              <a:t>Estimate savings with simple maths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31520" cy="50292"/>
          </a:xfrm>
          <a:prstGeom prst="rect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9747E"/>
                </a:solidFill>
                <a:latin typeface="Aptos"/>
              </a:rPr>
              <a:t>Show assumptions clearly instead of promising unverified savings.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69747E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 i="0">
                <a:solidFill>
                  <a:srgbClr val="1B314A"/>
                </a:solidFill>
                <a:latin typeface="Aptos"/>
              </a:rPr>
              <a:t>Energy saved = equipment power × avoidable hours × verified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246120" cy="114300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147E89"/>
                </a:solidFill>
                <a:latin typeface="Aptos"/>
              </a:rPr>
              <a:t>2 kW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9747E"/>
                </a:solidFill>
                <a:latin typeface="Aptos"/>
              </a:rPr>
              <a:t>Assumed equipment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743200"/>
            <a:ext cx="3246120" cy="114300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147E89"/>
                </a:solidFill>
                <a:latin typeface="Aptos"/>
              </a:rPr>
              <a:t>1.5 hours/day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38328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9747E"/>
                </a:solidFill>
                <a:latin typeface="Aptos"/>
              </a:rPr>
              <a:t>Avoidable run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743200"/>
            <a:ext cx="3246120" cy="114300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8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147E89"/>
                </a:solidFill>
                <a:latin typeface="Aptos"/>
              </a:rPr>
              <a:t>20 days/month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38328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9747E"/>
                </a:solidFill>
                <a:latin typeface="Aptos"/>
              </a:rPr>
              <a:t>Days the pattern repeats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 i="0">
                <a:solidFill>
                  <a:srgbClr val="1B314A"/>
                </a:solidFill>
                <a:latin typeface="Aptos"/>
              </a:rPr>
              <a:t>2 × 1.5 × 20 = 60 kWh/month (illustrative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0">
                <a:solidFill>
                  <a:srgbClr val="303A44"/>
                </a:solidFill>
                <a:latin typeface="Aptos"/>
              </a:rPr>
              <a:t>Estimated cost avoided = kWh saved × your electricity tariff.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37960"/>
            <a:ext cx="5669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9747E"/>
                </a:solidFill>
                <a:latin typeface="Aptos"/>
              </a:rPr>
              <a:t>DATA DYNAMOS  •  PHANTOM CLASSROOMS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B314A"/>
                </a:solidFill>
                <a:latin typeface="Aptos"/>
              </a:rPr>
              <a:t>Safe, explainable, and practical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731520" cy="50292"/>
          </a:xfrm>
          <a:prstGeom prst="rect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69747E"/>
                </a:solidFill>
                <a:latin typeface="Aptos"/>
              </a:rPr>
              <a:t>The system helps people make better decisions; it does not replace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 i="0">
                <a:solidFill>
                  <a:srgbClr val="69747E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phantom_came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114800" cy="32461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257800" y="193852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1828800"/>
            <a:ext cx="565099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303A44"/>
                </a:solidFill>
                <a:latin typeface="Aptos"/>
              </a:rPr>
              <a:t>No automatic shutdown based on one uncertain signal.</a:t>
            </a:r>
          </a:p>
        </p:txBody>
      </p:sp>
      <p:sp>
        <p:nvSpPr>
          <p:cNvPr id="9" name="Oval 8"/>
          <p:cNvSpPr/>
          <p:nvPr/>
        </p:nvSpPr>
        <p:spPr>
          <a:xfrm>
            <a:off x="5257800" y="276148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58968" y="2651760"/>
            <a:ext cx="565099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303A44"/>
                </a:solidFill>
                <a:latin typeface="Aptos"/>
              </a:rPr>
              <a:t>Respect comfort, accessibility, safety and staff override.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363016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8968" y="3520440"/>
            <a:ext cx="565099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303A44"/>
                </a:solidFill>
                <a:latin typeface="Aptos"/>
              </a:rPr>
              <a:t>Show the reason behind every alert.</a:t>
            </a:r>
          </a:p>
        </p:txBody>
      </p:sp>
      <p:sp>
        <p:nvSpPr>
          <p:cNvPr id="13" name="Oval 12"/>
          <p:cNvSpPr/>
          <p:nvPr/>
        </p:nvSpPr>
        <p:spPr>
          <a:xfrm>
            <a:off x="5257800" y="4315968"/>
            <a:ext cx="100584" cy="100584"/>
          </a:xfrm>
          <a:prstGeom prst="ellipse">
            <a:avLst/>
          </a:prstGeom>
          <a:solidFill>
            <a:srgbClr val="14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4206240"/>
            <a:ext cx="565099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303A44"/>
                </a:solidFill>
                <a:latin typeface="Aptos"/>
              </a:rPr>
              <a:t>Start with a small pilot and measure actual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1B314A"/>
                </a:solidFill>
                <a:latin typeface="Aptos"/>
              </a:rPr>
              <a:t>Phantom Classrooms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285232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47E89"/>
                </a:solidFill>
                <a:latin typeface="Aptos"/>
              </a:rPr>
              <a:t>Find waste. Verify it. Save energy.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6072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69747E"/>
                </a:solidFill>
                <a:latin typeface="Aptos"/>
              </a:rPr>
              <a:t>TEAM DATA DYNAMOS  •  THANK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37960"/>
            <a:ext cx="566928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9747E"/>
                </a:solidFill>
                <a:latin typeface="Aptos"/>
              </a:rPr>
              <a:t>DATA DYNAMOS  •  PHANTOM CLASSROOMS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